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ost Grotesk Light"/>
      <p:regular r:id="rId201314"/>
    </p:embeddedFont>
    <p:embeddedFont>
      <p:font typeface="Host Grotesk"/>
      <p:regular r:id="rId201315"/>
    </p:embeddedFont>
    <p:embeddedFont>
      <p:font typeface="Host Grotesk Medium"/>
      <p:regular r:id="rId201316"/>
    </p:embeddedFont>
    <p:embeddedFont>
      <p:font typeface="Host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walk through the Customer Shopping Behavior project, showing how we converted 3,900 raw retail transactions into validated business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initiative bridges raw telemetry and executive decision-making. We structured the project across three key deliverables: pipeline cleaning, SQL modeling, and visual discovery.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foundation of the study is a multi-dimensional retail dataset capturing 3,900 discrete consumer orders with balanced transaction value and customer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integrity was verified before running downstream analysis. We resolved missing survey data, engineered new behavioral features, and centralized the data into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distribution shows significant concentration. Male buyers account for more than double female spend, while Young Adults represent the most lucrative age segment.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performance highlights high customer satisfaction in accessories and footwear, while identifying staple apparel that currently erodes margins through discount dependence.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retention baseline is remarkably solid with over 3,100 loyal shoppers. However, subscription adoption is a major white space: 2,518 repeat purchasers have not joined the membership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strategic levers bridge the gap from exploratory metrics to operational revenue enhancement, targeting both loyalty monetization and discount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AD14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AD14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175000"/>
            <a:ext cx="6857828" cy="3520083"/>
          </a:xfrm>
          <a:prstGeom prst="roundRect">
            <a:avLst>
              <a:gd name="adj" fmla="val 866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3532664"/>
            <a:ext cx="675623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Retail Analytics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5176" y="4153138"/>
            <a:ext cx="6146646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spc="-38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Customer Shopping Behavior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65176" y="5384006"/>
            <a:ext cx="614664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Turning 3,900 transaction records into targeted commercial growth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5176" y="6102231"/>
            <a:ext cx="675623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spc="13" kern="1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End-to-End Analytics · Python · PostgreSQL · Power BI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1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From raw transactions to a decision-ready story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3351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130326"/>
            <a:ext cx="3454314" cy="32604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2643485"/>
            <a:ext cx="314952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377" y="2980829"/>
            <a:ext cx="2844729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92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Insight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377" y="3709491"/>
            <a:ext cx="2844729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Uncover spending patterns, customer segments, product preferences, and subscription behavior across retail cohorts.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1" y="2130326"/>
            <a:ext cx="3454314" cy="32604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673483" y="2496244"/>
            <a:ext cx="314952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OUTPUT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73483" y="2833588"/>
            <a:ext cx="2844729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92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Tooling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73483" y="3562251"/>
            <a:ext cx="2844729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standardized database, reproducible SQL transformations, and an interactive executive Power BI dashboard.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7797" y="2130326"/>
            <a:ext cx="3454314" cy="32604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432589" y="2496244"/>
            <a:ext cx="314952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BUSINESS ANGLE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32589" y="2833588"/>
            <a:ext cx="2844729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92" kern="100" dirty="0">
                <a:solidFill>
                  <a:srgbClr val="4D39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Action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432589" y="3562251"/>
            <a:ext cx="2844729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Translate exploratory data science into concrete merchandising, discount optimization, and loyalty retention moves.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585" y="6031845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26" kern="100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Project Architecture: Python Data Cleaning · PostgreSQL Modeling · Power BI Reporting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1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project starts with 3,900 purchases and 18 fields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3351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575521"/>
            <a:ext cx="2514537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152" kern="1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3,900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609585" y="4602897"/>
            <a:ext cx="2743131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13" kern="100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Total retail purchases analyzed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81310" y="2575521"/>
            <a:ext cx="2285943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152" kern="1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18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3581310" y="3637697"/>
            <a:ext cx="2285943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13" kern="100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Customer, product, and shipping dimensions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24442" y="2575521"/>
            <a:ext cx="2285943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152" kern="1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$59.76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6324442" y="4602897"/>
            <a:ext cx="2285943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13" kern="100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Average purchase amount across transactions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67573" y="2575521"/>
            <a:ext cx="2514537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152" kern="100" dirty="0">
                <a:solidFill>
                  <a:srgbClr val="FFC928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3.75</a:t>
            </a:r>
            <a:endParaRPr lang="en-US" sz="7600" dirty="0"/>
          </a:p>
        </p:txBody>
      </p:sp>
      <p:sp>
        <p:nvSpPr>
          <p:cNvPr id="11" name="Text 9"/>
          <p:cNvSpPr/>
          <p:nvPr/>
        </p:nvSpPr>
        <p:spPr>
          <a:xfrm>
            <a:off x="9067573" y="3637697"/>
            <a:ext cx="2514537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13" kern="100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Average review rating (37 missing imputed by median)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585" y="6031845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26" kern="100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Dataset scope: Customer demographics, product catalog, fulfillment channels, and promotional redemption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46366" y="2478683"/>
            <a:ext cx="12700" cy="2563713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089498" y="2478683"/>
            <a:ext cx="12700" cy="2563713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32629" y="2478683"/>
            <a:ext cx="12700" cy="2563713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1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Cleaning created a reliable base for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3351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349103"/>
            <a:ext cx="123702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09585" y="2991723"/>
            <a:ext cx="196587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Inspect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3404394"/>
            <a:ext cx="1965871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Load raw transaction records and audit schema health with Python.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32644" y="2349103"/>
            <a:ext cx="123702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032644" y="2991723"/>
            <a:ext cx="173727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Standardize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32644" y="3404394"/>
            <a:ext cx="1737277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Clean column names and impute 37 missing ratings using category medians.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27110" y="2349103"/>
            <a:ext cx="123702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227110" y="2991723"/>
            <a:ext cx="173737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Engineer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27110" y="3404394"/>
            <a:ext cx="1737376" cy="176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Derive structured age brackets and calculate purchase-frequency intervals.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21674" y="2349103"/>
            <a:ext cx="123702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7421674" y="2991723"/>
            <a:ext cx="173727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Prune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21674" y="3404394"/>
            <a:ext cx="1737277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Eliminate redundant promo-code attributes to ensure clean feature sets.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16140" y="2349103"/>
            <a:ext cx="123702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05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616140" y="2991723"/>
            <a:ext cx="196597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Load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16140" y="3404394"/>
            <a:ext cx="1965970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Migrate clean tables into PostgreSQL for high-speed relational queries.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585" y="6031746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26" kern="100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ETL Pipeline: Python (Pandas) staging to PostgreSQL relational warehouse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97700" y="2349103"/>
            <a:ext cx="12700" cy="2822773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992166" y="2349103"/>
            <a:ext cx="12700" cy="2822773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186730" y="2349103"/>
            <a:ext cx="12700" cy="2822773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381196" y="2349103"/>
            <a:ext cx="12700" cy="2822773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1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dashboard turns ten business questions into one 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3351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908175"/>
            <a:ext cx="6903567" cy="41116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27430" y="1679575"/>
            <a:ext cx="3154680" cy="4568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706823" y="2932906"/>
            <a:ext cx="2595894" cy="206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Power BI brings together customer counts, average spend, ratings, subscription mix, category performance, age-group revenue, shipping filters, and product views.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1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Revenue is concentrated in male customers and younger adults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3351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55614"/>
            <a:ext cx="6603835" cy="3479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368" y="1679575"/>
            <a:ext cx="3855743" cy="42319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031160" y="2045494"/>
            <a:ext cx="355095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DEMOGRAPHIC CONCENTRATION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31160" y="2382838"/>
            <a:ext cx="3246158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92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68%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031160" y="3111500"/>
            <a:ext cx="324615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Male-driven revenue share ($157,890 vs $75,191 female).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31160" y="3943549"/>
            <a:ext cx="3246158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92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$62,143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031160" y="4672211"/>
            <a:ext cx="3246158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Generated by Young Adults, leading all four generational cohorts.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9585" y="6101894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26" kern="100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Source: PostgreSQL aggregation of transactional sales records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509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697" y="638175"/>
            <a:ext cx="7619809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1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Product performance points to clear campaign anchors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114697" y="1852613"/>
            <a:ext cx="7619809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697" y="2234902"/>
          <a:ext cx="7619810" cy="914400"/>
        </p:xfrm>
        <a:graphic>
          <a:graphicData uri="http://schemas.openxmlformats.org/drawingml/2006/table">
            <a:tbl>
              <a:tblPr/>
              <a:tblGrid>
                <a:gridCol w="2590735"/>
                <a:gridCol w="1676358"/>
                <a:gridCol w="3352716"/>
              </a:tblGrid>
              <a:tr h="4742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104" kern="100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ANALYSIS DIMENSION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14297" marB="114297" anchor="ctr">
                    <a:lnL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104" kern="100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TOP ANCHOR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104" kern="100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CATALOG LEADERS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0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Highest-Rated Items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14297" marB="114297" anchor="ctr">
                    <a:lnL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C928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Gloves (3.86)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Sandals (3.84), Boots (3.82), Hat (3.80), Skirt (3.78)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0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Category Leaders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14297" marB="114297" anchor="ctr">
                    <a:lnL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Jewelry &amp; Tops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Blouse, Sandals, and Jacket represent volume pillars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23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Discount Dependent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14297" marB="114297" anchor="ctr">
                    <a:lnL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Footwear &amp; Knit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Hat, Sneakers, Coat, Sweater, and Pants rely heavily on promos</a:t>
                      </a:r>
                      <a:endParaRPr lang="en-US" sz="16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A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1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697" y="5809000"/>
            <a:ext cx="7619809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26" kern="100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Key takeaway: Pair top-rated organic performers with tighter margin controls on discount-dependent categories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1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Loyalty is strong, but subscriptions lag behind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3351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64854"/>
            <a:ext cx="6603835" cy="355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368" y="1679575"/>
            <a:ext cx="3855743" cy="45265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031160" y="2045494"/>
            <a:ext cx="355095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CONVERSION GAP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31160" y="2382838"/>
            <a:ext cx="3246158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92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3,116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031160" y="3111500"/>
            <a:ext cx="3246158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Loyal customers vs 83 new, showing exceptional repeat baseline.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31160" y="4238129"/>
            <a:ext cx="3246158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92" kern="100" dirty="0">
                <a:solidFill>
                  <a:srgbClr val="B0103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2,518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031160" y="4966791"/>
            <a:ext cx="3246158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Repeat buyers remain non-subscribers ($170k revenue uncaptured by programs).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9585" y="6396474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26" kern="100" dirty="0">
                <a:solidFill>
                  <a:srgbClr val="FFD9E6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Source: Customer segmentation audit; 958 subscribed repeat buyers vs 2,518 unsubscribed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160687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1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Five actions turn the analysis into a growth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80362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049687"/>
            <a:ext cx="10972526" cy="1676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Promote exclusive subscriber benefits.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Reward repeat buyers and move more of them into the Loyal segment.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Review discount policy to balance conversion with margin control.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Feature top-rated and best-selling products in campaigns.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Target high-revenue age groups and customers who value express shipping.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1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project’s next step is activation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3351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241748"/>
            <a:ext cx="3454314" cy="32604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2607667"/>
            <a:ext cx="314952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377" y="2945011"/>
            <a:ext cx="2844729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92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Monitor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377" y="3673673"/>
            <a:ext cx="2844729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 the dashboard to monitor subscription conversion, repeat buying, discount exposure, and category performance.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1" y="2241748"/>
            <a:ext cx="3454314" cy="32604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673483" y="2902248"/>
            <a:ext cx="314952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TARGETED CAMPAIGNS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73483" y="3239591"/>
            <a:ext cx="2844729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92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Target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73483" y="3968254"/>
            <a:ext cx="284472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Turn the strongest product and customer segments into targeted campaigns.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7797" y="2241748"/>
            <a:ext cx="3454314" cy="32604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432589" y="2754908"/>
            <a:ext cx="314952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REUSABLE WORKFLOW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32589" y="3092252"/>
            <a:ext cx="2844729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92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Reusable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432589" y="3820914"/>
            <a:ext cx="2844729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Keep the workflow reusable: clean in Python, query in PostgreSQL, communicate in Power BI.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2026-10-12T07:09:19Z</dcterms:created>
  <dcterms:modified xsi:type="dcterms:W3CDTF">2026-10-12T07:09:19Z</dcterms:modified>
</cp:coreProperties>
</file>